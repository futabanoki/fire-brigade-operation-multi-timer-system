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消防操法 4人同時計測システム　― 使い方 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4183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① 4台のスマホで役割を選択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749808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3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" y="1600200"/>
            <a:ext cx="585216" cy="1051560"/>
          </a:xfrm>
          <a:prstGeom prst="rect">
            <a:avLst/>
          </a:prstGeom>
          <a:solidFill>
            <a:srgbClr val="D2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指揮者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61488"/>
            <a:ext cx="109728" cy="109728"/>
          </a:xfrm>
          <a:prstGeom prst="ellipse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417320"/>
            <a:ext cx="749808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3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99616" y="1600200"/>
            <a:ext cx="585216" cy="1051560"/>
          </a:xfrm>
          <a:prstGeom prst="rect">
            <a:avLst/>
          </a:prstGeom>
          <a:solidFill>
            <a:srgbClr val="2A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一番員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2761488"/>
            <a:ext cx="109728" cy="109728"/>
          </a:xfrm>
          <a:prstGeom prst="ellipse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1417320"/>
            <a:ext cx="749808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3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4015" y="1600200"/>
            <a:ext cx="585216" cy="1051560"/>
          </a:xfrm>
          <a:prstGeom prst="rect">
            <a:avLst/>
          </a:prstGeom>
          <a:solidFill>
            <a:srgbClr val="2A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二番員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2761488"/>
            <a:ext cx="109728" cy="109728"/>
          </a:xfrm>
          <a:prstGeom prst="ellipse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749808" cy="155448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3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8415" y="1600200"/>
            <a:ext cx="585216" cy="1051560"/>
          </a:xfrm>
          <a:prstGeom prst="rect">
            <a:avLst/>
          </a:prstGeom>
          <a:solidFill>
            <a:srgbClr val="EB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三番員</a:t>
            </a:r>
          </a:p>
        </p:txBody>
      </p:sp>
      <p:sp>
        <p:nvSpPr>
          <p:cNvPr id="15" name="Oval 14"/>
          <p:cNvSpPr/>
          <p:nvPr/>
        </p:nvSpPr>
        <p:spPr>
          <a:xfrm>
            <a:off x="3566160" y="2761488"/>
            <a:ext cx="109728" cy="109728"/>
          </a:xfrm>
          <a:prstGeom prst="ellipse">
            <a:avLst/>
          </a:prstGeom>
          <a:solidFill>
            <a:srgbClr val="D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D37"/>
                </a:solidFill>
              </a:defRPr>
            </a:pPr>
            <a:r>
              <a:t>指揮者だけが赤い START を押します。</a:t>
            </a:r>
            <a:br/>
            <a:r>
              <a:t>全員の画面が同じ開始時刻で計測を始めます。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941832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② 各員は動作ごとのボタンをタップ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417320"/>
            <a:ext cx="3520440" cy="777240"/>
          </a:xfrm>
          <a:prstGeom prst="roundRect">
            <a:avLst/>
          </a:prstGeom>
          <a:solidFill>
            <a:srgbClr val="F5F8FB"/>
          </a:solidFill>
          <a:ln w="31750">
            <a:solidFill>
              <a:srgbClr val="D2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800" b="1">
                <a:solidFill>
                  <a:srgbClr val="D22D2D"/>
                </a:solidFill>
              </a:defRPr>
            </a:pPr>
            <a:r>
              <a:t>START</a:t>
            </a:r>
          </a:p>
          <a:p>
            <a:pPr algn="ctr">
              <a:defRPr sz="1350">
                <a:solidFill>
                  <a:srgbClr val="232D37"/>
                </a:solidFill>
              </a:defRPr>
            </a:pPr>
            <a:r>
              <a:t>指揮者が開始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79592" y="2212848"/>
            <a:ext cx="502920" cy="384048"/>
          </a:xfrm>
          <a:prstGeom prst="downArrow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879592" y="3127248"/>
            <a:ext cx="502920" cy="384048"/>
          </a:xfrm>
          <a:prstGeom prst="downArrow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879592" y="4041648"/>
            <a:ext cx="502920" cy="384048"/>
          </a:xfrm>
          <a:prstGeom prst="downArrow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2606040"/>
            <a:ext cx="3520440" cy="777240"/>
          </a:xfrm>
          <a:prstGeom prst="roundRect">
            <a:avLst/>
          </a:prstGeom>
          <a:solidFill>
            <a:srgbClr val="F5F8FB"/>
          </a:solidFill>
          <a:ln w="31750">
            <a:solidFill>
              <a:srgbClr val="2A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800" b="1">
                <a:solidFill>
                  <a:srgbClr val="2A66AA"/>
                </a:solidFill>
              </a:defRPr>
            </a:pPr>
            <a:r>
              <a:t>LAP ① → ② → ③ …</a:t>
            </a:r>
          </a:p>
          <a:p>
            <a:pPr algn="ctr">
              <a:defRPr sz="1350">
                <a:solidFill>
                  <a:srgbClr val="232D37"/>
                </a:solidFill>
              </a:defRPr>
            </a:pPr>
            <a:r>
              <a:t>各役割の実際の動作名を表示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20440"/>
            <a:ext cx="3520440" cy="777240"/>
          </a:xfrm>
          <a:prstGeom prst="roundRect">
            <a:avLst/>
          </a:prstGeom>
          <a:solidFill>
            <a:srgbClr val="F5F8FB"/>
          </a:solidFill>
          <a:ln w="31750">
            <a:solidFill>
              <a:srgbClr val="EB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800" b="1">
                <a:solidFill>
                  <a:srgbClr val="EB9123"/>
                </a:solidFill>
              </a:defRPr>
            </a:pPr>
            <a:r>
              <a:t>最終 LAP</a:t>
            </a:r>
          </a:p>
          <a:p>
            <a:pPr algn="ctr">
              <a:defRPr sz="1350">
                <a:solidFill>
                  <a:srgbClr val="232D37"/>
                </a:solidFill>
              </a:defRPr>
            </a:pPr>
            <a:r>
              <a:t>火点倒壊で自動STOP・自動保存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4434840"/>
            <a:ext cx="3520440" cy="777240"/>
          </a:xfrm>
          <a:prstGeom prst="roundRect">
            <a:avLst/>
          </a:prstGeom>
          <a:solidFill>
            <a:srgbClr val="F5F8FB"/>
          </a:solidFill>
          <a:ln w="31750">
            <a:solidFill>
              <a:srgbClr val="2A9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800" b="1">
                <a:solidFill>
                  <a:srgbClr val="2A9158"/>
                </a:solidFill>
              </a:defRPr>
            </a:pPr>
            <a:r>
              <a:t>集計結果</a:t>
            </a:r>
          </a:p>
          <a:p>
            <a:pPr algn="ctr">
              <a:defRPr sz="1350">
                <a:solidFill>
                  <a:srgbClr val="232D37"/>
                </a:solidFill>
              </a:defRPr>
            </a:pPr>
            <a:r>
              <a:t>チーム別・役割別に最新タイムを比較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941832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22A42"/>
                </a:solidFill>
              </a:defRPr>
            </a:pPr>
            <a:r>
              <a:t>③ LED表示・結果確認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1417320"/>
            <a:ext cx="3154680" cy="1143000"/>
          </a:xfrm>
          <a:prstGeom prst="roundRect">
            <a:avLst/>
          </a:prstGeom>
          <a:solidFill>
            <a:srgbClr val="0A0A0A"/>
          </a:solidFill>
          <a:ln>
            <a:solidFill>
              <a:srgbClr val="23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900" b="1">
                <a:solidFill>
                  <a:srgbClr val="FF4646"/>
                </a:solidFill>
              </a:defRPr>
            </a:pPr>
            <a:r>
              <a:t>計測中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615184"/>
            <a:ext cx="3154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STOP後は最終タイムを保持</a:t>
            </a:r>
            <a:br/>
            <a:r>
              <a:t>例：14.93 秒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321040" y="3337560"/>
          <a:ext cx="34290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914400"/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 marL="27432" marR="27432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A組</a:t>
                      </a:r>
                    </a:p>
                  </a:txBody>
                  <a:tcPr marL="27432" marR="27432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B組</a:t>
                      </a:r>
                    </a:p>
                  </a:txBody>
                  <a:tcPr marL="27432" marR="27432">
                    <a:solidFill>
                      <a:srgbClr val="122A4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D37"/>
                          </a:solidFill>
                        </a:defRPr>
                      </a:pPr>
                      <a:r>
                        <a:t>① 放水姿勢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6.50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6.32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D37"/>
                          </a:solidFill>
                        </a:defRPr>
                      </a:pPr>
                      <a:r>
                        <a:t>② 放水はじめ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9.23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9.02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32D37"/>
                          </a:solidFill>
                        </a:defRPr>
                      </a:pPr>
                      <a:r>
                        <a:t>③ 火点倒壊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14.93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32D37"/>
                          </a:solidFill>
                        </a:defRPr>
                      </a:pPr>
                      <a:r>
                        <a:t>15.21</a:t>
                      </a:r>
                    </a:p>
                  </a:txBody>
                  <a:tcPr marL="27432" marR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5623560"/>
            <a:ext cx="11365992" cy="822960"/>
          </a:xfrm>
          <a:prstGeom prst="roundRect">
            <a:avLst/>
          </a:prstGeom>
          <a:solidFill>
            <a:srgbClr val="ECF4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22A42"/>
                </a:solidFill>
              </a:defRPr>
            </a:pPr>
            <a:r>
              <a:t>ポイント：  STARTは指揮者のみ　｜　各員は表示された動作名をタップ　｜　最終LAPで自動停止・自動保存　｜　LEDと集計表で結果を確認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